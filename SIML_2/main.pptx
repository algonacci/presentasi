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GA-Driven Recurrent Modeling for Indonesian Banking Stocks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LSTM and Bi-LSTM with Explainable AI and Statistical Validation</a:t>
            </a:r>
            <a:br/>
            <a:br/>
            <a:r>
              <a:rPr/>
              <a:t>Eric Julianto · Safrizal Ardana Ardiyansa · Dian Alhusari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GA-Driven Recurrent Modeling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Indonesian Banking Stocks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Paper focus</a:t>
            </a:r>
          </a:p>
          <a:p>
            <a:pPr lvl="0"/>
            <a:r>
              <a:rPr/>
              <a:t>Reproducible benchmark for Indonesian banking stock forecasting</a:t>
            </a:r>
          </a:p>
          <a:p>
            <a:pPr lvl="0"/>
            <a:r>
              <a:rPr/>
              <a:t>Controlled ablation over architecture, macro features, and optimization</a:t>
            </a:r>
          </a:p>
          <a:p>
            <a:pPr lvl="0"/>
            <a:r>
              <a:rPr/>
              <a:t>Statistical validation plus SHAP-based explainability</a:t>
            </a:r>
          </a:p>
          <a:p>
            <a:pPr lvl="0" indent="0" marL="0">
              <a:buNone/>
            </a:pPr>
            <a:r>
              <a:rPr/>
              <a:t>7 banks · 8 cases per bank · 5 seeds per case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Problem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Forecasting banking stocks is difficult because the series are non-stationary, regime-dependent, and affected by both price-side dynamics and external macroeconomic signals.</a:t>
            </a:r>
          </a:p>
          <a:p>
            <a:pPr lvl="0" indent="0" marL="0">
              <a:buNone/>
            </a:pPr>
            <a:r>
              <a:rPr/>
              <a:t>In practice, many forecasting papers still have three weaknesses:</a:t>
            </a:r>
          </a:p>
          <a:p>
            <a:pPr lvl="0"/>
            <a:r>
              <a:rPr/>
              <a:t>shallow ablation design</a:t>
            </a:r>
          </a:p>
          <a:p>
            <a:pPr lvl="0"/>
            <a:r>
              <a:rPr/>
              <a:t>weak statistical validation</a:t>
            </a:r>
          </a:p>
          <a:p>
            <a:pPr lvl="0"/>
            <a:r>
              <a:rPr/>
              <a:t>limited interpretability of the final model behavior</a:t>
            </a:r>
          </a:p>
          <a:p>
            <a:pPr lvl="0" indent="0" marL="0">
              <a:buNone/>
            </a:pPr>
            <a:r>
              <a:rPr/>
              <a:t>This work builds a stronger baseline before moving to more advanced architectures.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Goal and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Goal</a:t>
            </a:r>
          </a:p>
          <a:p>
            <a:pPr lvl="0" indent="0" marL="0">
              <a:buNone/>
            </a:pPr>
            <a:r>
              <a:rPr/>
              <a:t>Test whether macroeconomic feature engineering and budgeted optimization produce reliable gains for LSTM-based forecasting of Indonesian banking stocks.</a:t>
            </a:r>
          </a:p>
          <a:p>
            <a:pPr lvl="0" indent="0" marL="0">
              <a:buNone/>
            </a:pPr>
            <a:r>
              <a:rPr b="1"/>
              <a:t>Main contributions</a:t>
            </a:r>
          </a:p>
          <a:p>
            <a:pPr lvl="0"/>
            <a:r>
              <a:rPr/>
              <a:t>Structured ablation over </a:t>
            </a:r>
            <a:r>
              <a:rPr>
                <a:latin typeface="Courier"/>
              </a:rPr>
              <a:t>LSTM</a:t>
            </a:r>
            <a:r>
              <a:rPr/>
              <a:t> vs </a:t>
            </a:r>
            <a:r>
              <a:rPr>
                <a:latin typeface="Courier"/>
              </a:rPr>
              <a:t>BiLSTM</a:t>
            </a:r>
            <a:r>
              <a:rPr/>
              <a:t>, </a:t>
            </a:r>
            <a:r>
              <a:rPr>
                <a:latin typeface="Courier"/>
              </a:rPr>
              <a:t>Without_Macro</a:t>
            </a:r>
            <a:r>
              <a:rPr/>
              <a:t> vs </a:t>
            </a:r>
            <a:r>
              <a:rPr>
                <a:latin typeface="Courier"/>
              </a:rPr>
              <a:t>With_Macro</a:t>
            </a:r>
            <a:r>
              <a:rPr/>
              <a:t>, and default vs </a:t>
            </a:r>
            <a:r>
              <a:rPr>
                <a:latin typeface="Courier"/>
              </a:rPr>
              <a:t>GA</a:t>
            </a:r>
          </a:p>
          <a:p>
            <a:pPr lvl="0"/>
            <a:r>
              <a:rPr/>
              <a:t>Multi-bank, multi-seed evaluation protocol for robust comparison</a:t>
            </a:r>
          </a:p>
          <a:p>
            <a:pPr lvl="0"/>
            <a:r>
              <a:rPr/>
              <a:t>Wilcoxon and Diebold-Mariano significance tests</a:t>
            </a:r>
          </a:p>
          <a:p>
            <a:pPr lvl="0"/>
            <a:r>
              <a:rPr/>
              <a:t>SHAP layer for feature-level explanation and plausibility analysis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Pipeline Overview</a:t>
            </a:r>
          </a:p>
        </p:txBody>
      </p:sp>
      <p:pic>
        <p:nvPicPr>
          <p:cNvPr descr="./images/flowcha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92300" y="1193800"/>
            <a:ext cx="1168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Five-Stage Flow</a:t>
            </a:r>
          </a:p>
          <a:p>
            <a:pPr lvl="0" indent="-342900" marL="342900">
              <a:buAutoNum type="arabicPeriod"/>
            </a:pPr>
            <a:r>
              <a:rPr b="1"/>
              <a:t>Data loading and scaling</a:t>
            </a:r>
          </a:p>
          <a:p>
            <a:pPr lvl="0" indent="-342900" marL="342900">
              <a:buAutoNum type="arabicPeriod"/>
            </a:pPr>
            <a:r>
              <a:rPr b="1"/>
              <a:t>Sequence generation</a:t>
            </a:r>
          </a:p>
          <a:p>
            <a:pPr lvl="0" indent="-342900" marL="342900">
              <a:buAutoNum type="arabicPeriod"/>
            </a:pPr>
            <a:r>
              <a:rPr b="1"/>
              <a:t>Model training</a:t>
            </a:r>
          </a:p>
          <a:p>
            <a:pPr lvl="0" indent="-342900" marL="342900">
              <a:buAutoNum type="arabicPeriod"/>
            </a:pPr>
            <a:r>
              <a:rPr b="1"/>
              <a:t>Out-of-sample forecasting</a:t>
            </a:r>
          </a:p>
          <a:p>
            <a:pPr lvl="0" indent="-342900" marL="342900">
              <a:buAutoNum type="arabicPeriod"/>
            </a:pPr>
            <a:r>
              <a:rPr b="1"/>
              <a:t>SHAP interpretation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Design Goal</a:t>
            </a:r>
          </a:p>
          <a:p>
            <a:pPr lvl="0"/>
            <a:r>
              <a:rPr/>
              <a:t>isolate source of performance gains</a:t>
            </a:r>
          </a:p>
          <a:p>
            <a:pPr lvl="0"/>
            <a:r>
              <a:rPr/>
              <a:t>compare model, feature, and tuning effects fairly</a:t>
            </a:r>
          </a:p>
          <a:p>
            <a:pPr lvl="0"/>
            <a:r>
              <a:rPr/>
              <a:t>keep the benchmark reproducible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/>
            <a:r>
              <a:rPr/>
              <a:t>7 banking stocks: </a:t>
            </a:r>
            <a:r>
              <a:rPr>
                <a:latin typeface="Courier"/>
              </a:rPr>
              <a:t>BBCA</a:t>
            </a:r>
            <a:r>
              <a:rPr/>
              <a:t>, </a:t>
            </a:r>
            <a:r>
              <a:rPr>
                <a:latin typeface="Courier"/>
              </a:rPr>
              <a:t>BBNI</a:t>
            </a:r>
            <a:r>
              <a:rPr/>
              <a:t>, </a:t>
            </a:r>
            <a:r>
              <a:rPr>
                <a:latin typeface="Courier"/>
              </a:rPr>
              <a:t>BBRI</a:t>
            </a:r>
            <a:r>
              <a:rPr/>
              <a:t>, </a:t>
            </a:r>
            <a:r>
              <a:rPr>
                <a:latin typeface="Courier"/>
              </a:rPr>
              <a:t>BBTN</a:t>
            </a:r>
            <a:r>
              <a:rPr/>
              <a:t>, </a:t>
            </a:r>
            <a:r>
              <a:rPr>
                <a:latin typeface="Courier"/>
              </a:rPr>
              <a:t>BDMN</a:t>
            </a:r>
            <a:r>
              <a:rPr/>
              <a:t>, </a:t>
            </a:r>
            <a:r>
              <a:rPr>
                <a:latin typeface="Courier"/>
              </a:rPr>
              <a:t>BMRI</a:t>
            </a:r>
            <a:r>
              <a:rPr/>
              <a:t>, </a:t>
            </a:r>
            <a:r>
              <a:rPr>
                <a:latin typeface="Courier"/>
              </a:rPr>
              <a:t>BNGA</a:t>
            </a:r>
          </a:p>
          <a:p>
            <a:pPr lvl="0"/>
            <a:r>
              <a:rPr/>
              <a:t>target: next-day closing price</a:t>
            </a:r>
          </a:p>
          <a:p>
            <a:pPr lvl="0"/>
            <a:r>
              <a:rPr/>
              <a:t>forecasting horizon: 1 day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Evaluation Design</a:t>
            </a:r>
          </a:p>
          <a:p>
            <a:pPr lvl="0"/>
            <a:r>
              <a:rPr/>
              <a:t>5 seeds: </a:t>
            </a:r>
            <a:r>
              <a:rPr>
                <a:latin typeface="Courier"/>
              </a:rPr>
              <a:t>42</a:t>
            </a:r>
            <a:r>
              <a:rPr/>
              <a:t>, </a:t>
            </a:r>
            <a:r>
              <a:rPr>
                <a:latin typeface="Courier"/>
              </a:rPr>
              <a:t>52</a:t>
            </a:r>
            <a:r>
              <a:rPr/>
              <a:t>, </a:t>
            </a:r>
            <a:r>
              <a:rPr>
                <a:latin typeface="Courier"/>
              </a:rPr>
              <a:t>62</a:t>
            </a:r>
            <a:r>
              <a:rPr/>
              <a:t>, </a:t>
            </a:r>
            <a:r>
              <a:rPr>
                <a:latin typeface="Courier"/>
              </a:rPr>
              <a:t>72</a:t>
            </a:r>
            <a:r>
              <a:rPr/>
              <a:t>, </a:t>
            </a:r>
            <a:r>
              <a:rPr>
                <a:latin typeface="Courier"/>
              </a:rPr>
              <a:t>82</a:t>
            </a:r>
          </a:p>
          <a:p>
            <a:pPr lvl="0"/>
            <a:r>
              <a:rPr/>
              <a:t>metrics: </a:t>
            </a:r>
            <a:r>
              <a:rPr>
                <a:latin typeface="Courier"/>
              </a:rPr>
              <a:t>RMSE</a:t>
            </a:r>
            <a:r>
              <a:rPr/>
              <a:t>, </a:t>
            </a:r>
            <a:r>
              <a:rPr>
                <a:latin typeface="Courier"/>
              </a:rPr>
              <a:t>MAE</a:t>
            </a:r>
            <a:r>
              <a:rPr/>
              <a:t>, </a:t>
            </a:r>
            <a:r>
              <a:rPr>
                <a:latin typeface="Courier"/>
              </a:rPr>
              <a:t>MAPE</a:t>
            </a:r>
            <a:r>
              <a:rPr/>
              <a:t>, </a:t>
            </a:r>
            <a:r>
              <a:rPr>
                <a:latin typeface="Courier"/>
              </a:rPr>
              <a:t>MSE</a:t>
            </a:r>
          </a:p>
          <a:p>
            <a:pPr lvl="0"/>
            <a:r>
              <a:rPr/>
              <a:t>fair comparison: same splits, same seeds, same training budget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Ablation Matrix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family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LSTM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BiLSTM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regime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Without_Macro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With_Macro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Optimization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default, </a:t>
                      </a:r>
                      <a:r>
                        <a:rPr>
                          <a:latin typeface="Courier"/>
                        </a:rPr>
                        <a:t>GA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This yields: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2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t>2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t>2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8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cases per bank.</a:t>
                </a:r>
              </a:p>
              <a:p>
                <a:pPr lvl="0" indent="0" marL="0">
                  <a:buNone/>
                </a:pPr>
                <a:r>
                  <a:rPr b="1"/>
                  <a:t>Important question</a:t>
                </a:r>
              </a:p>
              <a:p>
                <a:pPr lvl="0" indent="0" marL="0">
                  <a:buNone/>
                </a:pPr>
                <a:r>
                  <a:rPr/>
                  <a:t>Do macro variables really help, or do they only work in selected issuer-specific regimes?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and Optimization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Sequence Models</a:t>
            </a:r>
          </a:p>
          <a:p>
            <a:pPr lvl="0"/>
            <a:r>
              <a:rPr/>
              <a:t>single-layer </a:t>
            </a:r>
            <a:r>
              <a:rPr>
                <a:latin typeface="Courier"/>
              </a:rPr>
              <a:t>LSTM</a:t>
            </a:r>
          </a:p>
          <a:p>
            <a:pPr lvl="0"/>
            <a:r>
              <a:rPr/>
              <a:t>single-layer </a:t>
            </a:r>
            <a:r>
              <a:rPr>
                <a:latin typeface="Courier"/>
              </a:rPr>
              <a:t>BiLSTM</a:t>
            </a:r>
          </a:p>
          <a:p>
            <a:pPr lvl="0"/>
            <a:r>
              <a:rPr/>
              <a:t>dropout </a:t>
            </a:r>
            <a:r>
              <a:rPr>
                <a:latin typeface="Courier"/>
              </a:rPr>
              <a:t>0.2</a:t>
            </a:r>
          </a:p>
          <a:p>
            <a:pPr lvl="0"/>
            <a:r>
              <a:rPr/>
              <a:t>linear prediction head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Default Setup</a:t>
            </a:r>
          </a:p>
          <a:p>
            <a:pPr lvl="0"/>
            <a:r>
              <a:rPr/>
              <a:t>hidden size </a:t>
            </a:r>
            <a:r>
              <a:rPr>
                <a:latin typeface="Courier"/>
              </a:rPr>
              <a:t>64</a:t>
            </a:r>
          </a:p>
          <a:p>
            <a:pPr lvl="0"/>
            <a:r>
              <a:rPr/>
              <a:t>learning rate </a:t>
            </a:r>
            <a:r>
              <a:rPr>
                <a:latin typeface="Courier"/>
              </a:rPr>
              <a:t>1e-3</a:t>
            </a:r>
          </a:p>
          <a:p>
            <a:pPr lvl="0"/>
            <a:r>
              <a:rPr/>
              <a:t>sequence length </a:t>
            </a:r>
            <a:r>
              <a:rPr>
                <a:latin typeface="Courier"/>
              </a:rPr>
              <a:t>20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Budgeted GA Search</a:t>
            </a:r>
          </a:p>
          <a:p>
            <a:pPr lvl="0"/>
            <a:r>
              <a:rPr/>
              <a:t>optimize hidden size, learning rate, sequence length</a:t>
            </a:r>
          </a:p>
          <a:p>
            <a:pPr lvl="0"/>
            <a:r>
              <a:rPr/>
              <a:t>population size </a:t>
            </a:r>
            <a:r>
              <a:rPr>
                <a:latin typeface="Courier"/>
              </a:rPr>
              <a:t>8</a:t>
            </a:r>
          </a:p>
          <a:p>
            <a:pPr lvl="0"/>
            <a:r>
              <a:rPr/>
              <a:t>generations </a:t>
            </a:r>
            <a:r>
              <a:rPr>
                <a:latin typeface="Courier"/>
              </a:rPr>
              <a:t>5</a:t>
            </a:r>
          </a:p>
          <a:p>
            <a:pPr lvl="0"/>
            <a:r>
              <a:rPr/>
              <a:t>total budget </a:t>
            </a:r>
            <a:r>
              <a:rPr>
                <a:latin typeface="Courier"/>
              </a:rPr>
              <a:t>40</a:t>
            </a:r>
            <a:r>
              <a:rPr/>
              <a:t> configurations per case</a:t>
            </a:r>
          </a:p>
          <a:p>
            <a:pPr lvl="0" indent="0" marL="0">
              <a:buNone/>
            </a:pPr>
            <a:r>
              <a:rPr/>
              <a:t>GA is treated as an </a:t>
            </a:r>
            <a:r>
              <a:rPr b="1"/>
              <a:t>optimization-effort ablation</a:t>
            </a:r>
            <a:r>
              <a:rPr/>
              <a:t>, not as the central novelty claim.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MAPE (%)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BBCA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bilstm_without_macro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1881.53 ± 199.49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1721.55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18.36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BBNI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bilstm_without_macro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335.85 ± 57.51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252.66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BBRI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bilstm_without_macro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525.70 ± 123.24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435.44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8.34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BBTN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bilstm_without_macro_ga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51.44 ± 16.04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BDMN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lstm_without_macro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120.72 ± 21.92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98.32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3.74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BMRI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bilstm_with_macro_ga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1388.71 ± 257.96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1165.79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19.09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BNGA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bilstm_without_macro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244.14 ± 28.12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192.77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11.23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Takeaway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BiLSTM</a:t>
            </a:r>
            <a:r>
              <a:rPr/>
              <a:t> dominates in 6 of 7 banks, usually under </a:t>
            </a:r>
            <a:r>
              <a:rPr>
                <a:latin typeface="Courier"/>
              </a:rPr>
              <a:t>Without_Macro</a:t>
            </a:r>
            <a:r>
              <a:rPr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Statistical Validation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Baseline: </a:t>
            </a:r>
            <a:r>
              <a:rPr>
                <a:latin typeface="Courier"/>
              </a:rPr>
              <a:t>lstm_without_macro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Improve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Wilcoxon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DM 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BBCA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0.4375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2.28 × 10^-13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BBNI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0.0625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4.84 × 10^-11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BBRI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28.23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0.3125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&lt; 10^-16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BBTN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35.66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0.3125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2.22 × 10^-16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BMRI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0.4375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2.23 × 10^-11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BNGA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0.3125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4.78 × 10^-5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interpretation:</a:t>
            </a:r>
          </a:p>
          <a:p>
            <a:pPr lvl="0"/>
            <a:r>
              <a:rPr>
                <a:latin typeface="Courier"/>
              </a:rPr>
              <a:t>DM</a:t>
            </a:r>
            <a:r>
              <a:rPr/>
              <a:t> strongly supports lower forecast error in most winning cases</a:t>
            </a:r>
          </a:p>
          <a:p>
            <a:pPr lvl="0"/>
            <a:r>
              <a:rPr>
                <a:latin typeface="Courier"/>
              </a:rPr>
              <a:t>Wilcoxon</a:t>
            </a:r>
            <a:r>
              <a:rPr/>
              <a:t> is weaker because seed count is only </a:t>
            </a:r>
            <a:r>
              <a:rPr>
                <a:latin typeface="Courier"/>
              </a:rPr>
              <a:t>n = 5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Does Macro Help?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LSTM delta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BiLSTM delta (%)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BBCA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+20.34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+27.87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BBNI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+30.70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+39.21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BBRI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-1.27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+23.19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BBTN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-5.04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-17.72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BDMN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+202.86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+126.82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BMRI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-1.76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-4.85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BNGA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+13.25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+15.45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+37.01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+29.99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Interpretation:</a:t>
            </a:r>
          </a:p>
          <a:p>
            <a:pPr lvl="0"/>
            <a:r>
              <a:rPr/>
              <a:t>Positive delta = degradation</a:t>
            </a:r>
          </a:p>
          <a:p>
            <a:pPr lvl="0"/>
            <a:r>
              <a:rPr/>
              <a:t>macro features are </a:t>
            </a:r>
            <a:r>
              <a:rPr b="1"/>
              <a:t>not universally beneficial</a:t>
            </a:r>
          </a:p>
          <a:p>
            <a:pPr lvl="0"/>
            <a:r>
              <a:rPr/>
              <a:t>improvements only appear in selected banks and regimes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XAI Insight</a:t>
            </a:r>
          </a:p>
        </p:txBody>
      </p:sp>
      <p:pic>
        <p:nvPicPr>
          <p:cNvPr descr="./images/shap_global_ranking_ba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90700"/>
            <a:ext cx="40386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Global SHAP Ranking</a:t>
            </a:r>
          </a:p>
          <a:p>
            <a:pPr lvl="0" indent="0" marL="0">
              <a:buNone/>
            </a:pPr>
            <a:r>
              <a:rPr/>
              <a:t>Most frequent dominant drivers:</a:t>
            </a:r>
          </a:p>
          <a:p>
            <a:pPr lvl="0"/>
            <a:r>
              <a:rPr>
                <a:latin typeface="Courier"/>
              </a:rPr>
              <a:t>Low Price</a:t>
            </a:r>
            <a:r>
              <a:rPr/>
              <a:t> (39)</a:t>
            </a:r>
          </a:p>
          <a:p>
            <a:pPr lvl="0"/>
            <a:r>
              <a:rPr>
                <a:latin typeface="Courier"/>
              </a:rPr>
              <a:t>Bid Price</a:t>
            </a:r>
            <a:r>
              <a:rPr/>
              <a:t> (31)</a:t>
            </a:r>
          </a:p>
          <a:p>
            <a:pPr lvl="0"/>
            <a:r>
              <a:rPr>
                <a:latin typeface="Courier"/>
              </a:rPr>
              <a:t>Price Change 1 Day Percent</a:t>
            </a:r>
            <a:r>
              <a:rPr/>
              <a:t> (28)</a:t>
            </a:r>
          </a:p>
          <a:p>
            <a:pPr lvl="0"/>
            <a:r>
              <a:rPr>
                <a:latin typeface="Courier"/>
              </a:rPr>
              <a:t>Price to Sales Ratio</a:t>
            </a:r>
            <a:r>
              <a:rPr/>
              <a:t> (28)</a:t>
            </a:r>
          </a:p>
          <a:p>
            <a:pPr lvl="0" indent="0" marL="0">
              <a:buNone/>
            </a:pPr>
            <a:r>
              <a:rPr/>
              <a:t>Short-horizon market microstructure features dominate more often than macro variables.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Explanation Example</a:t>
            </a:r>
          </a:p>
        </p:txBody>
      </p:sp>
      <p:pic>
        <p:nvPicPr>
          <p:cNvPr descr="./images/shap_beeswarm_style_be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98600"/>
            <a:ext cx="40386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Best Checkpoint Pattern</a:t>
            </a:r>
          </a:p>
          <a:p>
            <a:pPr lvl="0"/>
            <a:r>
              <a:rPr/>
              <a:t>strongest local attribution view comes from the best-performing checkpoint</a:t>
            </a:r>
          </a:p>
          <a:p>
            <a:pPr lvl="0"/>
            <a:r>
              <a:rPr/>
              <a:t>explanation patterns remain bank- and regime-specific</a:t>
            </a:r>
          </a:p>
          <a:p>
            <a:pPr lvl="0"/>
            <a:r>
              <a:rPr/>
              <a:t>macro variables appear as top contributors only in a subset of runs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Benchmark Really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paper is not only about beating a baseline metric.</a:t>
            </a:r>
          </a:p>
          <a:p>
            <a:pPr lvl="0" indent="0" marL="0">
              <a:buNone/>
            </a:pPr>
            <a:r>
              <a:rPr/>
              <a:t>It shows that:</a:t>
            </a:r>
          </a:p>
          <a:p>
            <a:pPr lvl="0"/>
            <a:r>
              <a:rPr/>
              <a:t>benchmark rigor materially changes the credibility of forecasting claims</a:t>
            </a:r>
          </a:p>
          <a:p>
            <a:pPr lvl="0"/>
            <a:r>
              <a:rPr>
                <a:latin typeface="Courier"/>
              </a:rPr>
              <a:t>BiLSTM</a:t>
            </a:r>
            <a:r>
              <a:rPr/>
              <a:t> is generally stronger than </a:t>
            </a:r>
            <a:r>
              <a:rPr>
                <a:latin typeface="Courier"/>
              </a:rPr>
              <a:t>LSTM</a:t>
            </a:r>
            <a:r>
              <a:rPr/>
              <a:t> in this setup</a:t>
            </a:r>
          </a:p>
          <a:p>
            <a:pPr lvl="0"/>
            <a:r>
              <a:rPr>
                <a:latin typeface="Courier"/>
              </a:rPr>
              <a:t>GA</a:t>
            </a:r>
            <a:r>
              <a:rPr/>
              <a:t> helps in selected cases but not uniformly</a:t>
            </a:r>
          </a:p>
          <a:p>
            <a:pPr lvl="0"/>
            <a:r>
              <a:rPr/>
              <a:t>macro variables require better relevance and alignment, not blind feature expansion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Bottom line</a:t>
            </a:r>
          </a:p>
          <a:p>
            <a:pPr lvl="0" indent="0" marL="0">
              <a:buNone/>
            </a:pPr>
            <a:r>
              <a:rPr/>
              <a:t>This study provides a reproducible and statistically grounded forecasting baseline for Indonesian banking stocks.</a:t>
            </a:r>
          </a:p>
          <a:p>
            <a:pPr lvl="0" indent="0" marL="0">
              <a:buNone/>
            </a:pPr>
            <a:r>
              <a:rPr/>
              <a:t>The strongest practical message is:</a:t>
            </a:r>
          </a:p>
          <a:p>
            <a:pPr lvl="0"/>
            <a:r>
              <a:rPr>
                <a:latin typeface="Courier"/>
              </a:rPr>
              <a:t>BiLSTM</a:t>
            </a:r>
            <a:r>
              <a:rPr/>
              <a:t> usually wins</a:t>
            </a:r>
          </a:p>
          <a:p>
            <a:pPr lvl="0"/>
            <a:r>
              <a:rPr/>
              <a:t>macroeconomic variables do not help consistently</a:t>
            </a:r>
          </a:p>
          <a:p>
            <a:pPr lvl="0"/>
            <a:r>
              <a:rPr/>
              <a:t>explanation and significance testing are necessary to judge whether gains are real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GA-Driven Recurrent Modeling for Indonesian Banking Stocks Forecasting</dc:title>
  <dc:creator>Eric Julianto · Safrizal Ardana Ardiyansa · Dian Alhusari</dc:creator>
  <cp:keywords/>
  <dcterms:created xsi:type="dcterms:W3CDTF">2026-06-03T08:04:07Z</dcterms:created>
  <dcterms:modified xsi:type="dcterms:W3CDTF">2026-06-03T08:04:07Z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../paper/references.bib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institute">
    <vt:lpwstr>Braincore Indonesia · Universitas Esa Unggul · Universitas Brawijaya</vt:lpwstr>
  </property>
  <property fmtid="{D5CDD505-2E9C-101B-9397-08002B2CF9AE}" pid="12" name="institutes">
    <vt:lpwstr/>
  </property>
  <property fmtid="{D5CDD505-2E9C-101B-9397-08002B2CF9AE}" pid="13" name="labels">
    <vt:lpwstr/>
  </property>
  <property fmtid="{D5CDD505-2E9C-101B-9397-08002B2CF9AE}" pid="14" name="subtitle">
    <vt:lpwstr>LSTM and Bi-LSTM with Explainable AI and Statistical Validation</vt:lpwstr>
  </property>
  <property fmtid="{D5CDD505-2E9C-101B-9397-08002B2CF9AE}" pid="15" name="toc-title">
    <vt:lpwstr>Table of contents</vt:lpwstr>
  </property>
</Properties>
</file>