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Foundational Text-to-SQL Pipeline: Modular Design and Inference Benchmarking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Transparent baseline for modular, validatable, and locally deployable Text-to-SQL</a:t>
            </a:r>
            <a:br/>
            <a:br/>
            <a:r>
              <a:rPr/>
              <a:t>Eric Julianto · Dian Alhusari · Safrizal Ardana Ardiyansa · Vitri Tundjungsari · Tino Saputra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Modular Design and Inference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Paper focus</a:t>
            </a:r>
          </a:p>
          <a:p>
            <a:pPr lvl="0"/>
            <a:r>
              <a:rPr/>
              <a:t>Transparent baseline for enterprise-oriented Text-to-SQL</a:t>
            </a:r>
          </a:p>
          <a:p>
            <a:pPr lvl="0"/>
            <a:r>
              <a:rPr/>
              <a:t>Modular pipeline with controllable validation points</a:t>
            </a:r>
          </a:p>
          <a:p>
            <a:pPr lvl="0"/>
            <a:r>
              <a:rPr/>
              <a:t>Benchmarking Zero-shot, Few-shot, and Chain-of-Thought on Spider</a:t>
            </a:r>
          </a:p>
          <a:p>
            <a:pPr lvl="0" indent="0" marL="0">
              <a:buNone/>
            </a:pPr>
            <a:r>
              <a:rPr/>
              <a:t>DeepSeek-R1-8B, local deployment, reproducible baseline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Text-to-SQL is attractive because it lets non-technical users query relational databases in natural language. In practice, production adoption is still constrained by three recurring failure modes:</a:t>
            </a:r>
          </a:p>
          <a:p>
            <a:pPr lvl="0"/>
            <a:r>
              <a:rPr/>
              <a:t>Schema hallucination</a:t>
            </a:r>
          </a:p>
          <a:p>
            <a:pPr lvl="0"/>
            <a:r>
              <a:rPr/>
              <a:t>Invalid SQL syntax</a:t>
            </a:r>
          </a:p>
          <a:p>
            <a:pPr lvl="0"/>
            <a:r>
              <a:rPr/>
              <a:t>Opaque reasoning that is hard to audit</a:t>
            </a:r>
          </a:p>
          <a:p>
            <a:pPr lvl="0" indent="0" marL="0">
              <a:buNone/>
            </a:pPr>
            <a:r>
              <a:rPr/>
              <a:t>For enterprise use, raw fluency is not enough. The system must be grounded in the schema, validatable before execution, and easy to improve component by component.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Goal and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</a:t>
            </a:r>
          </a:p>
          <a:p>
            <a:pPr lvl="0" indent="0" marL="0">
              <a:buNone/>
            </a:pPr>
            <a:r>
              <a:rPr/>
              <a:t>Build a foundational Text-to-SQL pipeline that is simple, transparent, and suitable for controlled benchmarking.</a:t>
            </a:r>
          </a:p>
          <a:p>
            <a:pPr lvl="0" indent="0" marL="0">
              <a:buNone/>
            </a:pPr>
            <a:r>
              <a:rPr b="1"/>
              <a:t>Main contributions</a:t>
            </a:r>
          </a:p>
          <a:p>
            <a:pPr lvl="0"/>
            <a:r>
              <a:rPr/>
              <a:t>A modular pipeline separating intent handling, prompt construction, and validation</a:t>
            </a:r>
          </a:p>
          <a:p>
            <a:pPr lvl="0"/>
            <a:r>
              <a:rPr/>
              <a:t>A comparison of three prompting strategies using DeepSeek-R1-8B on Spider</a:t>
            </a:r>
          </a:p>
          <a:p>
            <a:pPr lvl="0"/>
            <a:r>
              <a:rPr/>
              <a:t>An error-oriented analysis showing where failures still concentrate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 Overview</a:t>
            </a:r>
          </a:p>
        </p:txBody>
      </p:sp>
      <p:pic>
        <p:nvPicPr>
          <p:cNvPr descr="./images/text_to_sql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49400" y="1193800"/>
            <a:ext cx="186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Three-Stage Flow</a:t>
            </a:r>
          </a:p>
          <a:p>
            <a:pPr lvl="0" indent="-342900" marL="342900">
              <a:buAutoNum type="arabicPeriod"/>
            </a:pPr>
            <a:r>
              <a:rPr b="1"/>
              <a:t>Intent analysis and schema selection</a:t>
            </a:r>
          </a:p>
          <a:p>
            <a:pPr lvl="0" indent="-342900" marL="342900">
              <a:buAutoNum type="arabicPeriod"/>
            </a:pPr>
            <a:r>
              <a:rPr b="1"/>
              <a:t>Prompt construction and SQL generation</a:t>
            </a:r>
          </a:p>
          <a:p>
            <a:pPr lvl="0" indent="-342900" marL="342900">
              <a:buAutoNum type="arabicPeriod"/>
            </a:pPr>
            <a:r>
              <a:rPr b="1"/>
              <a:t>Execution-oriented validation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Design Goal</a:t>
            </a:r>
          </a:p>
          <a:p>
            <a:pPr lvl="0"/>
            <a:r>
              <a:rPr/>
              <a:t>keep the system modular</a:t>
            </a:r>
          </a:p>
          <a:p>
            <a:pPr lvl="0"/>
            <a:r>
              <a:rPr/>
              <a:t>expose validation checkpoints</a:t>
            </a:r>
          </a:p>
          <a:p>
            <a:pPr lvl="0"/>
            <a:r>
              <a:rPr/>
              <a:t>make failure sources easier to diagnose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Stage 1</a:t>
            </a:r>
          </a:p>
          <a:p>
            <a:pPr lvl="0" indent="0" marL="0">
              <a:buNone/>
            </a:pPr>
            <a:r>
              <a:rPr b="1"/>
              <a:t>Intent Analysis and Schema Selection</a:t>
            </a:r>
          </a:p>
          <a:p>
            <a:pPr lvl="0"/>
            <a:r>
              <a:rPr/>
              <a:t>Filter non-query inputs</a:t>
            </a:r>
          </a:p>
          <a:p>
            <a:pPr lvl="0"/>
            <a:r>
              <a:rPr/>
              <a:t>Rank relevant tables with TF-IDF</a:t>
            </a:r>
          </a:p>
          <a:p>
            <a:pPr lvl="0"/>
            <a:r>
              <a:rPr/>
              <a:t>Reduce prompt noise before generation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Stage 2</a:t>
            </a:r>
          </a:p>
          <a:p>
            <a:pPr lvl="0" indent="0" marL="0">
              <a:buNone/>
            </a:pPr>
            <a:r>
              <a:rPr b="1"/>
              <a:t>Prompt Factory</a:t>
            </a:r>
          </a:p>
          <a:p>
            <a:pPr lvl="0"/>
            <a:r>
              <a:rPr/>
              <a:t>Zero-shot baseline</a:t>
            </a:r>
          </a:p>
          <a:p>
            <a:pPr lvl="0"/>
            <a:r>
              <a:rPr/>
              <a:t>Static few-shot with generic examples</a:t>
            </a:r>
          </a:p>
          <a:p>
            <a:pPr lvl="0"/>
            <a:r>
              <a:rPr/>
              <a:t>Chain-of-Thought with explicit reasoning structure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Prompting Strategies Compared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Tradeoff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Zero-shot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 schema + question to SQL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 and efficient, but limited reasoning support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Few-shot (k=3)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 static Question-SQL examples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 help formatting, but may inject domain mismatch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Ask model to reason before SQL generation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Better planning, but higher token cost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benchmark asks a narrow practical question: which prompt format works best in a local, resource-constrained setup?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and Environment</a:t>
            </a:r>
          </a:p>
          <a:p>
            <a:pPr lvl="0"/>
            <a:r>
              <a:rPr/>
              <a:t>Model: </a:t>
            </a:r>
            <a:r>
              <a:rPr b="1"/>
              <a:t>DeepSeek-R1-8B</a:t>
            </a:r>
          </a:p>
          <a:p>
            <a:pPr lvl="0"/>
            <a:r>
              <a:rPr/>
              <a:t>Inference: </a:t>
            </a:r>
            <a:r>
              <a:rPr b="1"/>
              <a:t>Ollama</a:t>
            </a:r>
          </a:p>
          <a:p>
            <a:pPr lvl="0"/>
            <a:r>
              <a:rPr/>
              <a:t>Deployment: </a:t>
            </a:r>
            <a:r>
              <a:rPr b="1"/>
              <a:t>local 8-bit</a:t>
            </a:r>
          </a:p>
          <a:p>
            <a:pPr lvl="0"/>
            <a:r>
              <a:rPr/>
              <a:t>GPU: </a:t>
            </a:r>
            <a:r>
              <a:rPr b="1"/>
              <a:t>NVIDIA RTX 4060, 8GB VRAM</a:t>
            </a:r>
          </a:p>
          <a:p>
            <a:pPr lvl="0"/>
            <a:r>
              <a:rPr/>
              <a:t>RAM: </a:t>
            </a:r>
            <a:r>
              <a:rPr b="1"/>
              <a:t>64GB DDR5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Evaluation Design</a:t>
            </a:r>
          </a:p>
          <a:p>
            <a:pPr lvl="0"/>
            <a:r>
              <a:rPr/>
              <a:t>Dataset: </a:t>
            </a:r>
            <a:r>
              <a:rPr b="1"/>
              <a:t>Spider</a:t>
            </a:r>
          </a:p>
          <a:p>
            <a:pPr lvl="0"/>
            <a:r>
              <a:rPr/>
              <a:t>Sample size: </a:t>
            </a:r>
            <a:r>
              <a:rPr b="1"/>
              <a:t>150 queries</a:t>
            </a:r>
          </a:p>
          <a:p>
            <a:pPr lvl="0"/>
            <a:r>
              <a:rPr/>
              <a:t>Difficulty coverage:</a:t>
            </a:r>
          </a:p>
          <a:p>
            <a:pPr lvl="1"/>
            <a:r>
              <a:rPr/>
              <a:t>Simple: </a:t>
            </a:r>
            <a:r>
              <a:rPr b="1"/>
              <a:t>52</a:t>
            </a:r>
          </a:p>
          <a:p>
            <a:pPr lvl="1"/>
            <a:r>
              <a:rPr/>
              <a:t>Intermediate: </a:t>
            </a:r>
            <a:r>
              <a:rPr b="1"/>
              <a:t>64</a:t>
            </a:r>
          </a:p>
          <a:p>
            <a:pPr lvl="1"/>
            <a:r>
              <a:rPr/>
              <a:t>Complex: </a:t>
            </a:r>
            <a:r>
              <a:rPr b="1"/>
              <a:t>34</a:t>
            </a:r>
          </a:p>
          <a:p>
            <a:pPr lvl="0"/>
            <a:r>
              <a:rPr/>
              <a:t>Metrics: </a:t>
            </a:r>
            <a:r>
              <a:rPr b="1"/>
              <a:t>Execution Accuracy</a:t>
            </a:r>
            <a:r>
              <a:rPr/>
              <a:t>, </a:t>
            </a:r>
            <a:r>
              <a:rPr b="1"/>
              <a:t>Validity</a:t>
            </a:r>
            <a:r>
              <a:rPr/>
              <a:t>, </a:t>
            </a:r>
            <a:r>
              <a:rPr b="1"/>
              <a:t>Average Tokens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Spider and Why Modular?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Spider remains a strong cross-domain benchmark for cross-domain semantic parsing</a:t>
            </a:r>
          </a:p>
          <a:p>
            <a:pPr lvl="0"/>
            <a:r>
              <a:rPr/>
              <a:t>Multi-table queries expose join planning and grounding failures clearly</a:t>
            </a:r>
          </a:p>
          <a:p>
            <a:pPr lvl="0"/>
            <a:r>
              <a:rPr/>
              <a:t>A modular design helps isolate whether errors come from retrieval, prompt design, or validation</a:t>
            </a:r>
          </a:p>
          <a:p>
            <a:pPr lvl="0" indent="0" marL="0">
              <a:buNone/>
            </a:pPr>
            <a:r>
              <a:rPr/>
              <a:t>This is why the paper emphasizes diagnostic value over leaderboard chasing.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EX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Valid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Avg. Tokens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Few-shot (k=3)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1,437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70.7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78.7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1,185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Takeaway</a:t>
            </a:r>
          </a:p>
          <a:p>
            <a:pPr lvl="0"/>
            <a:r>
              <a:rPr/>
              <a:t>CoT is the strongest strategy in this benchmark slice</a:t>
            </a:r>
          </a:p>
          <a:p>
            <a:pPr lvl="0"/>
            <a:r>
              <a:rPr/>
              <a:t>Static few-shot underperforms, likely due to domain-mismatch noise</a:t>
            </a:r>
          </a:p>
          <a:p>
            <a:pPr lvl="0"/>
            <a:r>
              <a:rPr/>
              <a:t>Better structure can matter more than simply adding examples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by Query Complexity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82.7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86.5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Intermediate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59.4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54.7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67.2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52.9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relative advantage of CoT becomes clearer as the SQL problem becomes more compositional.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 Distribution</a:t>
            </a:r>
          </a:p>
        </p:txBody>
      </p:sp>
      <p:pic>
        <p:nvPicPr>
          <p:cNvPr descr="./images/error_analy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interpretation:</a:t>
            </a:r>
          </a:p>
          <a:p>
            <a:pPr lvl="0"/>
            <a:r>
              <a:rPr b="1"/>
              <a:t>Schema hallucination</a:t>
            </a:r>
            <a:r>
              <a:rPr/>
              <a:t> remains the dominant failure mode</a:t>
            </a:r>
          </a:p>
          <a:p>
            <a:pPr lvl="0"/>
            <a:r>
              <a:rPr b="1"/>
              <a:t>CoT</a:t>
            </a:r>
            <a:r>
              <a:rPr/>
              <a:t> reduces syntax errors by forcing explicit planning</a:t>
            </a:r>
          </a:p>
          <a:p>
            <a:pPr lvl="0"/>
            <a:r>
              <a:rPr/>
              <a:t>Reliability gains are real, but grounding is still the bottleneck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Qualitative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“Concert” database example, the baseline model hallucinated the column </a:t>
            </a:r>
            <a:r>
              <a:rPr b="1"/>
              <a:t>Highest</a:t>
            </a:r>
            <a:r>
              <a:rPr/>
              <a:t> when answering a question about average and maximum stadium capacity.</a:t>
            </a:r>
          </a:p>
          <a:p>
            <a:pPr lvl="0" indent="0" marL="0">
              <a:buNone/>
            </a:pPr>
            <a:r>
              <a:rPr/>
              <a:t>CoT handled the same case better because it first reasoned about:</a:t>
            </a:r>
          </a:p>
          <a:p>
            <a:pPr lvl="0"/>
            <a:r>
              <a:rPr/>
              <a:t>relevant table selection</a:t>
            </a:r>
          </a:p>
          <a:p>
            <a:pPr lvl="0"/>
            <a:r>
              <a:rPr/>
              <a:t>aggregation targets</a:t>
            </a:r>
          </a:p>
          <a:p>
            <a:pPr lvl="0"/>
            <a:r>
              <a:rPr/>
              <a:t>the valid </a:t>
            </a:r>
            <a:r>
              <a:rPr b="1"/>
              <a:t>Capacity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This is consistent with the broader quantitative pattern: explicit reasoning mainly helps avoid structurally avoidable failures.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Benchmark Really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paper is not claiming a state-of-the-art Text-to-SQL system.</a:t>
            </a:r>
          </a:p>
          <a:p>
            <a:pPr lvl="0" indent="0" marL="0">
              <a:buNone/>
            </a:pPr>
            <a:r>
              <a:rPr/>
              <a:t>It shows that, under a practical local deployment setup:</a:t>
            </a:r>
          </a:p>
          <a:p>
            <a:pPr lvl="0"/>
            <a:r>
              <a:rPr/>
              <a:t>prompt design materially changes execution accuracy</a:t>
            </a:r>
          </a:p>
          <a:p>
            <a:pPr lvl="0"/>
            <a:r>
              <a:rPr/>
              <a:t>static few-shot examples can hurt when they are poorly aligned</a:t>
            </a:r>
          </a:p>
          <a:p>
            <a:pPr lvl="0"/>
            <a:r>
              <a:rPr/>
              <a:t>validation helps expose where the system still fails</a:t>
            </a:r>
          </a:p>
          <a:p>
            <a:pPr lvl="0" indent="0" marL="0">
              <a:buNone/>
            </a:pPr>
            <a:r>
              <a:rPr/>
              <a:t>That makes the pipeline useful as both an evaluation scaffold and an engineering baseline.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limits</a:t>
            </a:r>
          </a:p>
          <a:p>
            <a:pPr lvl="0"/>
            <a:r>
              <a:rPr/>
              <a:t>Only 150 sampled Spider queries</a:t>
            </a:r>
          </a:p>
          <a:p>
            <a:pPr lvl="0"/>
            <a:r>
              <a:rPr/>
              <a:t>Single quantized 8-bit model</a:t>
            </a:r>
          </a:p>
          <a:p>
            <a:pPr lvl="0"/>
            <a:r>
              <a:rPr/>
              <a:t>No dynamic retrieval or repair loop yet</a:t>
            </a:r>
          </a:p>
          <a:p>
            <a:pPr lvl="0" indent="0" marL="0">
              <a:buNone/>
            </a:pPr>
            <a:r>
              <a:rPr b="1"/>
              <a:t>Next steps</a:t>
            </a:r>
          </a:p>
          <a:p>
            <a:pPr lvl="0"/>
            <a:r>
              <a:rPr/>
              <a:t>Dynamic context retrieval</a:t>
            </a:r>
          </a:p>
          <a:p>
            <a:pPr lvl="0"/>
            <a:r>
              <a:rPr/>
              <a:t>self-correction / repair loops</a:t>
            </a:r>
          </a:p>
          <a:p>
            <a:pPr lvl="0"/>
            <a:r>
              <a:rPr/>
              <a:t>more agentic execution workflows</a:t>
            </a:r>
          </a:p>
          <a:p>
            <a:pPr lvl="0"/>
            <a:r>
              <a:rPr/>
              <a:t>broader benchmark coverage beyond the current slice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Bottom line</a:t>
            </a:r>
          </a:p>
          <a:p>
            <a:pPr lvl="0" indent="0" marL="0">
              <a:buNone/>
            </a:pPr>
            <a:r>
              <a:rPr/>
              <a:t>Chain-of-Thought provides the strongest overall performance in this foundational benchmark, especially on harder queries, but schema grounding remains the core unresolved challenge.</a:t>
            </a:r>
          </a:p>
          <a:p>
            <a:pPr lvl="0" indent="0" marL="0">
              <a:buNone/>
            </a:pPr>
            <a:r>
              <a:rPr/>
              <a:t>The practical contribution is a modular and auditable Text-to-SQL baseline that can be improved incrementally without turning the whole system into a black box.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Foundational Text-to-SQL Pipeline: Modular Design and Inference Benchmarking</dc:title>
  <dc:creator>Eric Julianto · Dian Alhusari · Safrizal Ardana Ardiyansa · Vitri Tundjungsari · Tino Saputra</dc:creator>
  <cp:keywords/>
  <dcterms:created xsi:type="dcterms:W3CDTF">2026-06-03T08:04:15Z</dcterms:created>
  <dcterms:modified xsi:type="dcterms:W3CDTF">2026-06-03T08:04:15Z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Braincore Indonesia · Universitas Esa Unggul · Universitas Brawijaya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Transparent baseline for modular, validatable, and locally deployable Text-to-SQL</vt:lpwstr>
  </property>
  <property fmtid="{D5CDD505-2E9C-101B-9397-08002B2CF9AE}" pid="14" name="toc-title">
    <vt:lpwstr>Table of contents</vt:lpwstr>
  </property>
</Properties>
</file>